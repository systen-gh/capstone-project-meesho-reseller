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MEESHO RESELLER</a:t>
            </a:r>
          </a:p>
          <a:p>
            <a:pPr>
              <a:defRPr sz="3600" b="1">
                <a:solidFill>
                  <a:srgbClr val="B4D7F5"/>
                </a:solidFill>
                <a:latin typeface="Aptos Display"/>
              </a:defRPr>
            </a:pPr>
            <a:r>
              <a:t>REVENUE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FFFFF"/>
                </a:solidFill>
                <a:latin typeface="Aptos"/>
              </a:defRPr>
            </a:pPr>
            <a:r>
              <a:t>Reliable Data Analysis, Growth Monitoring</a:t>
            </a:r>
            <a:br/>
            <a:r>
              <a:t>and AI-Assisted Business Narrative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920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2E1F0"/>
                </a:solidFill>
                <a:latin typeface="Aptos"/>
              </a:defRPr>
            </a:pPr>
            <a:r>
              <a:t>Capstone Project  •  April–June 2026  •  Python + SQLite + 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66666"/>
                </a:solidFill>
                <a:latin typeface="Aptos"/>
              </a:defRPr>
            </a:pPr>
            <a:r>
              <a:t>End-to-end revenue analytics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6666"/>
                </a:solidFill>
                <a:latin typeface="Aptos"/>
              </a:defRPr>
            </a:pPr>
            <a:r>
              <a:t>Meesho Reseller Revenue Analytics   •   Capstone Project                                    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828800" cy="132588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Orders</a:t>
            </a:r>
          </a:p>
          <a:p>
            <a:pPr>
              <a:defRPr sz="2200" b="1">
                <a:solidFill>
                  <a:srgbClr val="17365D"/>
                </a:solidFill>
                <a:latin typeface="Aptos Display"/>
              </a:defRPr>
            </a:pPr>
            <a:r>
              <a:t>900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417320"/>
            <a:ext cx="1828800" cy="132588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Resellers</a:t>
            </a:r>
          </a:p>
          <a:p>
            <a:pPr>
              <a:defRPr sz="2200" b="1">
                <a:solidFill>
                  <a:srgbClr val="17365D"/>
                </a:solidFill>
                <a:latin typeface="Aptos Display"/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417320"/>
            <a:ext cx="1828800" cy="132588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Regions</a:t>
            </a:r>
          </a:p>
          <a:p>
            <a:pPr>
              <a:defRPr sz="2200" b="1">
                <a:solidFill>
                  <a:srgbClr val="17365D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417320"/>
            <a:ext cx="1828800" cy="132588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Categories</a:t>
            </a:r>
          </a:p>
          <a:p>
            <a:pPr>
              <a:defRPr sz="2200" b="1">
                <a:solidFill>
                  <a:srgbClr val="17365D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0" y="1417320"/>
            <a:ext cx="1828800" cy="132588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Months</a:t>
            </a:r>
          </a:p>
          <a:p>
            <a:pPr>
              <a:defRPr sz="2200" b="1">
                <a:solidFill>
                  <a:srgbClr val="17365D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54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Transform reseller order data into verified business insights.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Combine SQL analysis, MoM growth monitoring, masking, narrative generation and agent validation.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Operate locally with zero external API keys.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Aptos Display"/>
              </a:defRPr>
            </a:pPr>
            <a:r>
              <a:t>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66666"/>
                </a:solidFill>
                <a:latin typeface="Aptos"/>
              </a:defRPr>
            </a:pPr>
            <a:r>
              <a:t>From raw transactions to reliable management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6666"/>
                </a:solidFill>
                <a:latin typeface="Aptos"/>
              </a:defRPr>
            </a:pPr>
            <a:r>
              <a:t>Meesho Reseller Revenue Analytics   •   Capstone Project                            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Raw transactional data does not immediately answer which categories are growing or declining.</a:t>
            </a:r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Management needs consistent revenue, order and regional metrics.</a:t>
            </a:r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Automated narratives must remain tied to verified numbers.</a:t>
            </a:r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Sensitive reseller identifiers should be protected during downstream processing.</a:t>
            </a:r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The workflow should fail safely when required inputs are unavailable.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92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6666"/>
                </a:solidFill>
                <a:latin typeface="Aptos"/>
              </a:defRPr>
            </a:pPr>
            <a:r>
              <a:t>Meesho Reseller Revenue Analytics   •   Capstone Project                                    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Generate a structured reseller order dataset.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Analyze revenue using SQLite and SQL.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Calculate Month-on-Month category growth.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Flag growth above the defined 8% threshold.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Generate evidence-based business narratives.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Mask reseller identifiers.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Validate outputs and demonstrate safe failure.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Aptos Display"/>
              </a:defRPr>
            </a:pPr>
            <a: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66666"/>
                </a:solidFill>
                <a:latin typeface="Aptos"/>
              </a:defRPr>
            </a:pPr>
            <a:r>
              <a:t>Simulated dataset used for the capstone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6666"/>
                </a:solidFill>
                <a:latin typeface="Aptos"/>
              </a:defRPr>
            </a:pPr>
            <a:r>
              <a:t>Meesho Reseller Revenue Analytics   •   Capstone Project                                    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828800" cy="137160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Total Orders</a:t>
            </a:r>
          </a:p>
          <a:p>
            <a:pPr>
              <a:defRPr sz="2200" b="1">
                <a:solidFill>
                  <a:srgbClr val="17365D"/>
                </a:solidFill>
                <a:latin typeface="Aptos Display"/>
              </a:defRPr>
            </a:pPr>
            <a:r>
              <a:t>900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325880"/>
            <a:ext cx="1828800" cy="137160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Per Month</a:t>
            </a:r>
          </a:p>
          <a:p>
            <a:pPr>
              <a:defRPr sz="2200" b="1">
                <a:solidFill>
                  <a:srgbClr val="17365D"/>
                </a:solidFill>
                <a:latin typeface="Aptos Display"/>
              </a:defRPr>
            </a:pPr>
            <a:r>
              <a:t>300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325880"/>
            <a:ext cx="1828800" cy="137160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Resellers</a:t>
            </a:r>
          </a:p>
          <a:p>
            <a:pPr>
              <a:defRPr sz="2200" b="1">
                <a:solidFill>
                  <a:srgbClr val="17365D"/>
                </a:solidFill>
                <a:latin typeface="Aptos Display"/>
              </a:defRPr>
            </a:pPr>
            <a: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325880"/>
            <a:ext cx="1828800" cy="137160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Regions</a:t>
            </a:r>
          </a:p>
          <a:p>
            <a:pPr>
              <a:defRPr sz="2200" b="1">
                <a:solidFill>
                  <a:srgbClr val="17365D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1325880"/>
            <a:ext cx="1828800" cy="137160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Cities / Region</a:t>
            </a:r>
          </a:p>
          <a:p>
            <a:pPr>
              <a:defRPr sz="2200" b="1">
                <a:solidFill>
                  <a:srgbClr val="17365D"/>
                </a:solidFill>
                <a:latin typeface="Aptos Display"/>
              </a:defRPr>
            </a:pPr>
            <a:r>
              <a:t>3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68680" y="3063240"/>
          <a:ext cx="1033272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166360"/>
              </a:tblGrid>
              <a:tr h="4038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Product Categories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Order Status Distribution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Ethnic Wear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Delivered —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Western Wear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Returned — 15%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Kids Wear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Cancelled — 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Home &amp; Kitchen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Pending — 5%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Beauty &amp; Personal 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840480" y="5532120"/>
            <a:ext cx="4480560" cy="59436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Data Quality</a:t>
            </a:r>
          </a:p>
          <a:p>
            <a:pPr>
              <a:defRPr sz="2200" b="1">
                <a:solidFill>
                  <a:srgbClr val="17365D"/>
                </a:solidFill>
                <a:latin typeface="Aptos Display"/>
              </a:defRPr>
            </a:pPr>
            <a:r>
              <a:t>0</a:t>
            </a:r>
          </a:p>
          <a:p>
            <a:pPr>
              <a:defRPr sz="900">
                <a:solidFill>
                  <a:srgbClr val="666666"/>
                </a:solidFill>
                <a:latin typeface="Aptos"/>
              </a:defRPr>
            </a:pPr>
            <a:r>
              <a:t>Duplicate Order IDs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92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6666"/>
                </a:solidFill>
                <a:latin typeface="Aptos"/>
              </a:defRPr>
            </a:pPr>
            <a:r>
              <a:t>Meesho Reseller Revenue Analytics   •   Capstone Project                                      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25880"/>
          <a:ext cx="102412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120640"/>
              </a:tblGrid>
              <a:tr h="58782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 in Project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Dataset generation and analytical 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Pandas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Data handling and CSV processing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SQLite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Local database and SQL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SQL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Revenue and business analysis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VS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Development environment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Markdown / CSV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Documentation and analytical exchange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Aptos Display"/>
              </a:defRPr>
            </a:pPr>
            <a:r>
              <a:t>End-to-End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66666"/>
                </a:solidFill>
                <a:latin typeface="Aptos"/>
              </a:defRPr>
            </a:pPr>
            <a:r>
              <a:t>Verified data flows through four analytical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6666"/>
                </a:solidFill>
                <a:latin typeface="Aptos"/>
              </a:defRPr>
            </a:pPr>
            <a:r>
              <a:t>Meesho Reseller Revenue Analytics   •   Capstone Project                                    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423160" cy="201168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1</a:t>
            </a:r>
            <a:br/>
            <a:r>
              <a:t>Part 1</a:t>
            </a:r>
            <a:br/>
            <a:r>
              <a:t>SQL Analysis</a:t>
            </a:r>
          </a:p>
        </p:txBody>
      </p:sp>
      <p:sp>
        <p:nvSpPr>
          <p:cNvPr id="7" name="Chevron 6"/>
          <p:cNvSpPr/>
          <p:nvPr/>
        </p:nvSpPr>
        <p:spPr>
          <a:xfrm>
            <a:off x="3090672" y="2468880"/>
            <a:ext cx="411480" cy="594360"/>
          </a:xfrm>
          <a:prstGeom prst="chevron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423160" cy="201168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2</a:t>
            </a:r>
            <a:br/>
            <a:r>
              <a:t>Part 2</a:t>
            </a:r>
            <a:br/>
            <a:r>
              <a:t>Growth Engine</a:t>
            </a:r>
          </a:p>
        </p:txBody>
      </p:sp>
      <p:sp>
        <p:nvSpPr>
          <p:cNvPr id="9" name="Chevron 8"/>
          <p:cNvSpPr/>
          <p:nvPr/>
        </p:nvSpPr>
        <p:spPr>
          <a:xfrm>
            <a:off x="5879592" y="2468880"/>
            <a:ext cx="411480" cy="594360"/>
          </a:xfrm>
          <a:prstGeom prst="chevron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423160" cy="201168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3</a:t>
            </a:r>
            <a:br/>
            <a:r>
              <a:t>Part 3</a:t>
            </a:r>
            <a:br/>
            <a:r>
              <a:t>Narrative + Masking</a:t>
            </a:r>
          </a:p>
        </p:txBody>
      </p:sp>
      <p:sp>
        <p:nvSpPr>
          <p:cNvPr id="11" name="Chevron 10"/>
          <p:cNvSpPr/>
          <p:nvPr/>
        </p:nvSpPr>
        <p:spPr>
          <a:xfrm>
            <a:off x="8668512" y="2468880"/>
            <a:ext cx="411480" cy="594360"/>
          </a:xfrm>
          <a:prstGeom prst="chevron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06840" y="1828800"/>
            <a:ext cx="2423160" cy="201168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4</a:t>
            </a:r>
            <a:br/>
            <a:r>
              <a:t>Part 4</a:t>
            </a:r>
            <a:br/>
            <a:r>
              <a:t>Revenue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4617720"/>
            <a:ext cx="4480560" cy="82296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Final Output</a:t>
            </a:r>
          </a:p>
          <a:p>
            <a:pPr>
              <a:defRPr sz="2200" b="1">
                <a:solidFill>
                  <a:srgbClr val="17365D"/>
                </a:solidFill>
                <a:latin typeface="Aptos Display"/>
              </a:defRPr>
            </a:pPr>
            <a:r>
              <a:t>Reliable Business Reporting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Aptos Display"/>
              </a:defRPr>
            </a:pPr>
            <a:r>
              <a:t>Part 1 — SQL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66666"/>
                </a:solidFill>
                <a:latin typeface="Aptos"/>
              </a:defRPr>
            </a:pPr>
            <a:r>
              <a:t>Verified analytical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6666"/>
                </a:solidFill>
                <a:latin typeface="Aptos"/>
              </a:defRPr>
            </a:pPr>
            <a:r>
              <a:t>Meesho Reseller Revenue Analytics   •   Capstone Project                            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Monthly category revenue and order counts.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Region-wise revenue and order count with grand total.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Top 5 resellers by total spend, using a &gt; 50,000 condition.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June Average Order Value using delivered orders only.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Duplicate Order ID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508760"/>
            <a:ext cx="3200400" cy="150876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Data Quality</a:t>
            </a:r>
          </a:p>
          <a:p>
            <a:pPr>
              <a:defRPr sz="2200" b="1">
                <a:solidFill>
                  <a:srgbClr val="17365D"/>
                </a:solidFill>
                <a:latin typeface="Aptos Display"/>
              </a:defRPr>
            </a:pPr>
            <a:r>
              <a:t>0</a:t>
            </a:r>
          </a:p>
          <a:p>
            <a:pPr>
              <a:defRPr sz="900">
                <a:solidFill>
                  <a:srgbClr val="666666"/>
                </a:solidFill>
                <a:latin typeface="Aptos"/>
              </a:defRPr>
            </a:pPr>
            <a:r>
              <a:t>Duplicate Order IDs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3337560"/>
            <a:ext cx="3200400" cy="150876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Database</a:t>
            </a:r>
          </a:p>
          <a:p>
            <a:pPr>
              <a:defRPr sz="2200" b="1">
                <a:solidFill>
                  <a:srgbClr val="17365D"/>
                </a:solidFill>
                <a:latin typeface="Aptos Display"/>
              </a:defRPr>
            </a:pPr>
            <a:r>
              <a:t>SQLite</a:t>
            </a:r>
          </a:p>
          <a:p>
            <a:pPr>
              <a:defRPr sz="900">
                <a:solidFill>
                  <a:srgbClr val="666666"/>
                </a:solidFill>
                <a:latin typeface="Aptos"/>
              </a:defRPr>
            </a:pPr>
            <a:r>
              <a:t>Local analytical database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Aptos Display"/>
              </a:defRPr>
            </a:pPr>
            <a:r>
              <a:t>Part 2 — Growth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66666"/>
                </a:solidFill>
                <a:latin typeface="Aptos"/>
              </a:defRPr>
            </a:pPr>
            <a:r>
              <a:t>Month-on-Month growth and threshold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6666"/>
                </a:solidFill>
                <a:latin typeface="Aptos"/>
              </a:defRPr>
            </a:pPr>
            <a:r>
              <a:t>Meesho Reseller Revenue Analytics   •   Capstone Project                                     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3291840" cy="150876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Formula</a:t>
            </a:r>
          </a:p>
          <a:p>
            <a:pPr>
              <a:defRPr sz="2200" b="1">
                <a:solidFill>
                  <a:srgbClr val="17365D"/>
                </a:solidFill>
                <a:latin typeface="Aptos Display"/>
              </a:defRPr>
            </a:pPr>
            <a:r>
              <a:t>MoM %</a:t>
            </a:r>
          </a:p>
          <a:p>
            <a:pPr>
              <a:defRPr sz="900">
                <a:solidFill>
                  <a:srgbClr val="666666"/>
                </a:solidFill>
                <a:latin typeface="Aptos"/>
              </a:defRPr>
            </a:pPr>
            <a:r>
              <a:t>((Current − Previous) / Previous) ×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2971800" cy="150876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Threshold</a:t>
            </a:r>
          </a:p>
          <a:p>
            <a:pPr>
              <a:defRPr sz="2200" b="1">
                <a:solidFill>
                  <a:srgbClr val="17365D"/>
                </a:solidFill>
                <a:latin typeface="Aptos Display"/>
              </a:defRPr>
            </a:pPr>
            <a:r>
              <a:t>&gt; 8%</a:t>
            </a:r>
          </a:p>
          <a:p>
            <a:pPr>
              <a:defRPr sz="900">
                <a:solidFill>
                  <a:srgbClr val="666666"/>
                </a:solidFill>
                <a:latin typeface="Aptos"/>
              </a:defRPr>
            </a:pPr>
            <a:r>
              <a:t>Flagged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417320"/>
            <a:ext cx="2971800" cy="150876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Boundary</a:t>
            </a:r>
          </a:p>
          <a:p>
            <a:pPr>
              <a:defRPr sz="2200" b="1">
                <a:solidFill>
                  <a:srgbClr val="17365D"/>
                </a:solidFill>
                <a:latin typeface="Aptos Display"/>
              </a:defRPr>
            </a:pPr>
            <a:r>
              <a:t>= 8%</a:t>
            </a:r>
          </a:p>
          <a:p>
            <a:pPr>
              <a:defRPr sz="900">
                <a:solidFill>
                  <a:srgbClr val="666666"/>
                </a:solidFill>
                <a:latin typeface="Aptos"/>
              </a:defRPr>
            </a:pPr>
            <a:r>
              <a:t>Escalation boundary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10241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Growth below 8% is not flagged.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Negative growth is not automatically flagged by this rule.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Results are rounded to two decimal places.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Aptos Display"/>
              </a:defRPr>
            </a:pPr>
            <a:r>
              <a:t>Verified Growth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66666"/>
                </a:solidFill>
                <a:latin typeface="Aptos"/>
              </a:defRPr>
            </a:pPr>
            <a:r>
              <a:t>Categories exceeding the 8% threshold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6666"/>
                </a:solidFill>
                <a:latin typeface="Aptos"/>
              </a:defRPr>
            </a:pPr>
            <a:r>
              <a:t>Meesho Reseller Revenue Analytics   •   Capstone Project                                     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41732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5852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Comparison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MoM Growth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May vs April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Beauty &amp; Personal 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13.64%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Flagged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May vs April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Ethnic Wear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17.00%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Flagged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May vs April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Western Wear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9.63%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Flagged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June vs May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Ethnic Wear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35.48%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Flagged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4800600"/>
            <a:ext cx="4572000" cy="105156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Highest verified flagged growth</a:t>
            </a:r>
          </a:p>
          <a:p>
            <a:pPr>
              <a:defRPr sz="2200" b="1">
                <a:solidFill>
                  <a:srgbClr val="17365D"/>
                </a:solidFill>
                <a:latin typeface="Aptos Display"/>
              </a:defRPr>
            </a:pPr>
            <a:r>
              <a:t>35.48%</a:t>
            </a:r>
          </a:p>
          <a:p>
            <a:pPr>
              <a:defRPr sz="900">
                <a:solidFill>
                  <a:srgbClr val="666666"/>
                </a:solidFill>
                <a:latin typeface="Aptos"/>
              </a:defRPr>
            </a:pPr>
            <a:r>
              <a:t>Ethnic Wear — June vs May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4800600"/>
            <a:ext cx="4572000" cy="105156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Interpretation rule</a:t>
            </a:r>
          </a:p>
          <a:p>
            <a:pPr>
              <a:defRPr sz="2200" b="1">
                <a:solidFill>
                  <a:srgbClr val="17365D"/>
                </a:solidFill>
                <a:latin typeface="Aptos Display"/>
              </a:defRPr>
            </a:pPr>
            <a:r>
              <a:t>Threshold only</a:t>
            </a:r>
          </a:p>
          <a:p>
            <a:pPr>
              <a:defRPr sz="900">
                <a:solidFill>
                  <a:srgbClr val="666666"/>
                </a:solidFill>
                <a:latin typeface="Aptos"/>
              </a:defRPr>
            </a:pPr>
            <a:r>
              <a:t>A flag does not establish a business cause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Aptos Display"/>
              </a:defRPr>
            </a:pPr>
            <a:r>
              <a:t>Part 3 — Reliable AI Narrative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66666"/>
                </a:solidFill>
                <a:latin typeface="Aptos"/>
              </a:defRPr>
            </a:pPr>
            <a:r>
              <a:t>Communicate verified numbers safely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6666"/>
                </a:solidFill>
                <a:latin typeface="Aptos"/>
              </a:defRPr>
            </a:pPr>
            <a:r>
              <a:t>Meesho Reseller Revenue Analytics   •   Capstone Project                                    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2743200" cy="182880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Context</a:t>
            </a:r>
          </a:p>
          <a:p>
            <a:pPr>
              <a:defRPr sz="900">
                <a:solidFill>
                  <a:srgbClr val="666666"/>
                </a:solidFill>
                <a:latin typeface="Aptos"/>
              </a:defRPr>
            </a:pPr>
            <a:r>
              <a:t>What happened?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1554480"/>
            <a:ext cx="2743200" cy="182880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Insight</a:t>
            </a:r>
          </a:p>
          <a:p>
            <a:pPr>
              <a:defRPr sz="900">
                <a:solidFill>
                  <a:srgbClr val="666666"/>
                </a:solidFill>
                <a:latin typeface="Aptos"/>
              </a:defRPr>
            </a:pPr>
            <a:r>
              <a:t>What do the numbers show?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554480"/>
            <a:ext cx="2743200" cy="182880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Implication</a:t>
            </a:r>
          </a:p>
          <a:p>
            <a:pPr>
              <a:defRPr sz="900">
                <a:solidFill>
                  <a:srgbClr val="666666"/>
                </a:solidFill>
                <a:latin typeface="Aptos"/>
              </a:defRPr>
            </a:pPr>
            <a:r>
              <a:t>What should management consider?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No invented causes, trends, sustainability or missing values.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If evidence is insufficient, the narrative states that further investigation is needed.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Aptos Display"/>
              </a:defRPr>
            </a:pPr>
            <a:r>
              <a:t>Data Masking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66666"/>
                </a:solidFill>
                <a:latin typeface="Aptos"/>
              </a:defRPr>
            </a:pPr>
            <a:r>
              <a:t>Protect reseller identifiers before narrative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6666"/>
                </a:solidFill>
                <a:latin typeface="Aptos"/>
              </a:defRPr>
            </a:pPr>
            <a:r>
              <a:t>Meesho Reseller Revenue Analytics   •   Capstone Project                                    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17320"/>
            <a:ext cx="2743200" cy="150876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Raw Identifier</a:t>
            </a:r>
          </a:p>
          <a:p>
            <a:pPr>
              <a:defRPr sz="2200" b="1">
                <a:solidFill>
                  <a:srgbClr val="17365D"/>
                </a:solidFill>
                <a:latin typeface="Aptos Display"/>
              </a:defRPr>
            </a:pPr>
            <a:r>
              <a:t>Reseller ID</a:t>
            </a:r>
          </a:p>
          <a:p>
            <a:pPr>
              <a:defRPr sz="900">
                <a:solidFill>
                  <a:srgbClr val="666666"/>
                </a:solidFill>
                <a:latin typeface="Aptos"/>
              </a:defRPr>
            </a:pPr>
            <a:r>
              <a:t>Private source data</a:t>
            </a:r>
          </a:p>
        </p:txBody>
      </p:sp>
      <p:sp>
        <p:nvSpPr>
          <p:cNvPr id="7" name="Chevron 6"/>
          <p:cNvSpPr/>
          <p:nvPr/>
        </p:nvSpPr>
        <p:spPr>
          <a:xfrm>
            <a:off x="3840480" y="1828800"/>
            <a:ext cx="640080" cy="640080"/>
          </a:xfrm>
          <a:prstGeom prst="chevron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00600" y="1417320"/>
            <a:ext cx="2743200" cy="150876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Masking</a:t>
            </a:r>
          </a:p>
          <a:p>
            <a:pPr>
              <a:defRPr sz="2200" b="1">
                <a:solidFill>
                  <a:srgbClr val="17365D"/>
                </a:solidFill>
                <a:latin typeface="Aptos Display"/>
              </a:defRPr>
            </a:pPr>
            <a:r>
              <a:t>Mapping</a:t>
            </a:r>
          </a:p>
          <a:p>
            <a:pPr>
              <a:defRPr sz="900">
                <a:solidFill>
                  <a:srgbClr val="666666"/>
                </a:solidFill>
                <a:latin typeface="Aptos"/>
              </a:defRPr>
            </a:pPr>
            <a:r>
              <a:t>Private mapping table</a:t>
            </a:r>
          </a:p>
        </p:txBody>
      </p:sp>
      <p:sp>
        <p:nvSpPr>
          <p:cNvPr id="9" name="Chevron 8"/>
          <p:cNvSpPr/>
          <p:nvPr/>
        </p:nvSpPr>
        <p:spPr>
          <a:xfrm>
            <a:off x="7726679" y="1828800"/>
            <a:ext cx="640080" cy="640080"/>
          </a:xfrm>
          <a:prstGeom prst="chevron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0" y="1417320"/>
            <a:ext cx="2560320" cy="150876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Output</a:t>
            </a:r>
          </a:p>
          <a:p>
            <a:pPr>
              <a:defRPr sz="2200" b="1">
                <a:solidFill>
                  <a:srgbClr val="17365D"/>
                </a:solidFill>
                <a:latin typeface="Aptos Display"/>
              </a:defRPr>
            </a:pPr>
            <a:r>
              <a:t>Reseller_001</a:t>
            </a:r>
          </a:p>
          <a:p>
            <a:pPr>
              <a:defRPr sz="900">
                <a:solidFill>
                  <a:srgbClr val="666666"/>
                </a:solidFill>
                <a:latin typeface="Aptos"/>
              </a:defRPr>
            </a:pPr>
            <a:r>
              <a:t>Masked identifier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Raw reseller names are excluded from the masked view.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The approach is pseudonymization, not complete anonymization, because the mapping can reconnect identities.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Aptos Display"/>
              </a:defRPr>
            </a:pPr>
            <a:r>
              <a:t>Part 4 — Reliable Revenue Analysis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66666"/>
                </a:solidFill>
                <a:latin typeface="Aptos"/>
              </a:defRPr>
            </a:pPr>
            <a:r>
              <a:t>Local/mock agent using verified Growth Engine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6666"/>
                </a:solidFill>
                <a:latin typeface="Aptos"/>
              </a:defRPr>
            </a:pPr>
            <a:r>
              <a:t>Meesho Reseller Revenue Analytics   •   Capstone Project                            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6492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Reads verified category growth results.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Produces Context, Insight and Implication.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Includes validation information.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Does not require an external AI API key.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Does not continue when required input is missing.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600200"/>
            <a:ext cx="3108960" cy="141732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Input</a:t>
            </a:r>
          </a:p>
          <a:p>
            <a:pPr>
              <a:defRPr sz="2200" b="1">
                <a:solidFill>
                  <a:srgbClr val="17365D"/>
                </a:solidFill>
                <a:latin typeface="Aptos Display"/>
              </a:defRPr>
            </a:pPr>
            <a:r>
              <a:t>Verified CSV</a:t>
            </a:r>
          </a:p>
          <a:p>
            <a:pPr>
              <a:defRPr sz="900">
                <a:solidFill>
                  <a:srgbClr val="666666"/>
                </a:solidFill>
                <a:latin typeface="Aptos"/>
              </a:defRPr>
            </a:pPr>
            <a:r>
              <a:t>Growth Engine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3383280"/>
            <a:ext cx="3108960" cy="141732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Output</a:t>
            </a:r>
          </a:p>
          <a:p>
            <a:pPr>
              <a:defRPr sz="2200" b="1">
                <a:solidFill>
                  <a:srgbClr val="17365D"/>
                </a:solidFill>
                <a:latin typeface="Aptos Display"/>
              </a:defRPr>
            </a:pPr>
            <a:r>
              <a:t>Narratives</a:t>
            </a:r>
          </a:p>
          <a:p>
            <a:pPr>
              <a:defRPr sz="900">
                <a:solidFill>
                  <a:srgbClr val="666666"/>
                </a:solidFill>
                <a:latin typeface="Aptos"/>
              </a:defRPr>
            </a:pPr>
            <a:r>
              <a:t>Business-ready summaries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Aptos Display"/>
              </a:defRPr>
            </a:pPr>
            <a:r>
              <a:t>Agent Reliability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66666"/>
                </a:solidFill>
                <a:latin typeface="Aptos"/>
              </a:defRPr>
            </a:pPr>
            <a:r>
              <a:t>Positive validation and negative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6666"/>
                </a:solidFill>
                <a:latin typeface="Aptos"/>
              </a:defRPr>
            </a:pPr>
            <a:r>
              <a:t>Meesho Reseller Revenue Analytics   •   Capstone Project                                     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325880"/>
          <a:ext cx="5120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5791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Output file exists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May categories verified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June category 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Growth percentages verified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Overall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92240" y="1463040"/>
            <a:ext cx="4389120" cy="132588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Negative Test</a:t>
            </a:r>
          </a:p>
          <a:p>
            <a:pPr>
              <a:defRPr sz="2200" b="1">
                <a:solidFill>
                  <a:srgbClr val="17365D"/>
                </a:solidFill>
                <a:latin typeface="Aptos Display"/>
              </a:defRPr>
            </a:pPr>
            <a:r>
              <a:t>Missing input</a:t>
            </a:r>
          </a:p>
          <a:p>
            <a:pPr>
              <a:defRPr sz="900">
                <a:solidFill>
                  <a:srgbClr val="666666"/>
                </a:solidFill>
                <a:latin typeface="Aptos"/>
              </a:defRPr>
            </a:pPr>
            <a:r>
              <a:t>Agent stopped safely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154680"/>
            <a:ext cx="4389120" cy="132588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Restored Functional Test</a:t>
            </a:r>
          </a:p>
          <a:p>
            <a:pPr>
              <a:defRPr sz="2200" b="1">
                <a:solidFill>
                  <a:srgbClr val="17365D"/>
                </a:solidFill>
                <a:latin typeface="Aptos Display"/>
              </a:defRPr>
            </a:pPr>
            <a:r>
              <a:t>Passed</a:t>
            </a:r>
          </a:p>
          <a:p>
            <a:pPr>
              <a:defRPr sz="900">
                <a:solidFill>
                  <a:srgbClr val="666666"/>
                </a:solidFill>
                <a:latin typeface="Aptos"/>
              </a:defRPr>
            </a:pPr>
            <a:r>
              <a:t>Normal workflow resumed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Aptos Display"/>
              </a:defRPr>
            </a:pPr>
            <a:r>
              <a:t>Key Business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66666"/>
                </a:solidFill>
                <a:latin typeface="Aptos"/>
              </a:defRPr>
            </a:pPr>
            <a:r>
              <a:t>Verified results from the analytical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6666"/>
                </a:solidFill>
                <a:latin typeface="Aptos"/>
              </a:defRPr>
            </a:pPr>
            <a:r>
              <a:t>Meesho Reseller Revenue Analytics   •   Capstone Project                                      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32588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852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Flagged Category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Growth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May vs April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Beauty &amp; Personal 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13.64%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May vs April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Ethnic Wear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17.00%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May vs April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Western Wear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9.63%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June vs May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Ethnic Wear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35.48%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12280" y="1417320"/>
            <a:ext cx="4206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Home &amp; Kitchen: -20.28% in May vs April.</a:t>
            </a:r>
          </a:p>
          <a:p>
            <a:pPr>
              <a:spcAft>
                <a:spcPts val="9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Kids Wear: -23.57% in June vs May.</a:t>
            </a:r>
          </a:p>
          <a:p>
            <a:pPr>
              <a:spcAft>
                <a:spcPts val="9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Western Wear: -10.91% in June vs May.</a:t>
            </a:r>
          </a:p>
          <a:p>
            <a:pPr>
              <a:spcAft>
                <a:spcPts val="9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These movements are descriptive results; the project does not infer causes without supporting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Aptos Display"/>
              </a:defRPr>
            </a:pPr>
            <a:r>
              <a:t>Limitations &amp;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92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6666"/>
                </a:solidFill>
                <a:latin typeface="Aptos"/>
              </a:defRPr>
            </a:pPr>
            <a:r>
              <a:t>Meesho Reseller Revenue Analytics   •   Capstone Project                                     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Current dataset is simulated and covers only April–June 2026.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The agent is a local/mock implementation.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No real-time production database connection.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Cause analysis is limited by available business variables.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Future: production database, automated ingestion, dashboards, alerts and advanced anomaly detection.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Future: production AI integration, stronger privacy controls and additional KPIs.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66666"/>
                </a:solidFill>
                <a:latin typeface="Aptos"/>
              </a:defRPr>
            </a:pPr>
            <a:r>
              <a:t>Reliable analytics is the central design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6666"/>
                </a:solidFill>
                <a:latin typeface="Aptos"/>
              </a:defRPr>
            </a:pPr>
            <a:r>
              <a:t>Meesho Reseller Revenue Analytics   •   Capstone Project                                     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2468880" cy="155448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SQL</a:t>
            </a:r>
          </a:p>
          <a:p>
            <a:pPr>
              <a:defRPr sz="2200" b="1">
                <a:solidFill>
                  <a:srgbClr val="17365D"/>
                </a:solidFill>
                <a:latin typeface="Aptos Display"/>
              </a:defRPr>
            </a:pPr>
            <a:r>
              <a:t>Verified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417320"/>
            <a:ext cx="2468880" cy="155448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Growth</a:t>
            </a:r>
          </a:p>
          <a:p>
            <a:pPr>
              <a:defRPr sz="2200" b="1">
                <a:solidFill>
                  <a:srgbClr val="17365D"/>
                </a:solidFill>
                <a:latin typeface="Aptos Display"/>
              </a:defRPr>
            </a:pPr>
            <a:r>
              <a:t>MoM + Flags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2468880" cy="155448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Narrative</a:t>
            </a:r>
          </a:p>
          <a:p>
            <a:pPr>
              <a:defRPr sz="2200" b="1">
                <a:solidFill>
                  <a:srgbClr val="17365D"/>
                </a:solidFill>
                <a:latin typeface="Aptos Display"/>
              </a:defRPr>
            </a:pPr>
            <a:r>
              <a:t>Evidence-Based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1417320"/>
            <a:ext cx="2468880" cy="1554480"/>
          </a:xfrm>
          <a:prstGeom prst="roundRect">
            <a:avLst/>
          </a:prstGeom>
          <a:solidFill>
            <a:srgbClr val="EAF2F8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F75B5"/>
                </a:solidFill>
                <a:latin typeface="Aptos"/>
              </a:defRPr>
            </a:pPr>
            <a:r>
              <a:t>Agent</a:t>
            </a:r>
          </a:p>
          <a:p>
            <a:pPr>
              <a:defRPr sz="2200" b="1">
                <a:solidFill>
                  <a:srgbClr val="17365D"/>
                </a:solidFill>
                <a:latin typeface="Aptos Display"/>
              </a:defRPr>
            </a:pPr>
            <a:r>
              <a:t>Validated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The workflow transforms transactional data into structured, validated business information.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The current architecture provides a foundation for future production analytics and AI-assisted reporting.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574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461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4D7F5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92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Aptos"/>
              </a:defRPr>
            </a:pPr>
            <a:r>
              <a:t>Meesho Reseller Revenue Analytics • Capstone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